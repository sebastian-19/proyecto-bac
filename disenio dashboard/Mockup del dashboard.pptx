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3" r:id="rId2"/>
    <p:sldId id="264" r:id="rId3"/>
    <p:sldId id="260" r:id="rId4"/>
    <p:sldId id="262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79AA"/>
    <a:srgbClr val="FFF3CD"/>
    <a:srgbClr val="BFB48F"/>
    <a:srgbClr val="E5E8FF"/>
    <a:srgbClr val="E9C46A"/>
    <a:srgbClr val="F5E6B8"/>
    <a:srgbClr val="F4D06F"/>
    <a:srgbClr val="FFF894"/>
    <a:srgbClr val="E3E0FF"/>
    <a:srgbClr val="3D3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34" d="100"/>
          <a:sy n="134" d="100"/>
        </p:scale>
        <p:origin x="120" y="29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14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DF78D-965F-E2F2-E5AD-50BD63C4F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Imagen finanzas"/>
          <p:cNvPicPr>
            <a:picLocks noChangeAspect="1"/>
          </p:cNvPicPr>
          <p:nvPr/>
        </p:nvPicPr>
        <p:blipFill>
          <a:blip r:embed="rId2">
            <a:alphaModFix amt="20000"/>
          </a:blip>
          <a:srcRect l="27865" r="8138"/>
          <a:stretch>
            <a:fillRect/>
          </a:stretch>
        </p:blipFill>
        <p:spPr>
          <a:xfrm>
            <a:off x="-1" y="0"/>
            <a:ext cx="9294019" cy="51435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5EA791D-D1B6-55D3-18E9-70DE6B1C7325}"/>
              </a:ext>
            </a:extLst>
          </p:cNvPr>
          <p:cNvSpPr/>
          <p:nvPr/>
        </p:nvSpPr>
        <p:spPr>
          <a:xfrm>
            <a:off x="0" y="1097280"/>
            <a:ext cx="6400800" cy="1143000"/>
          </a:xfrm>
          <a:prstGeom prst="roundRect">
            <a:avLst>
              <a:gd name="adj" fmla="val 1322"/>
            </a:avLst>
          </a:prstGeom>
          <a:noFill/>
          <a:ln>
            <a:noFill/>
          </a:ln>
          <a:effectLst>
            <a:innerShdw blurRad="63500" dist="25400" dir="5400000">
              <a:prstClr val="black">
                <a:alpha val="22000"/>
              </a:prstClr>
            </a:inn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Análisis de Desviaciones Presupuestarias</a:t>
            </a:r>
          </a:p>
          <a:p>
            <a:r>
              <a:rPr lang="es-A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Licitaciones Públicas – Buenos Aires Compras (BAC)</a:t>
            </a:r>
          </a:p>
          <a:p>
            <a:r>
              <a:rPr lang="es-AR" sz="1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Periodo analizado: 2014 – 2025.</a:t>
            </a:r>
            <a:r>
              <a:rPr lang="es-A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1617785-8F65-48CD-6C88-167430BAAE15}"/>
              </a:ext>
            </a:extLst>
          </p:cNvPr>
          <p:cNvSpPr/>
          <p:nvPr/>
        </p:nvSpPr>
        <p:spPr>
          <a:xfrm>
            <a:off x="0" y="2331720"/>
            <a:ext cx="6400800" cy="868680"/>
          </a:xfrm>
          <a:prstGeom prst="roundRect">
            <a:avLst>
              <a:gd name="adj" fmla="val 1322"/>
            </a:avLst>
          </a:prstGeom>
          <a:noFill/>
          <a:ln>
            <a:noFill/>
          </a:ln>
          <a:effectLst>
            <a:innerShdw blurRad="63500" dist="25400" dir="5400000">
              <a:prstClr val="black">
                <a:alpha val="22000"/>
              </a:prstClr>
            </a:inn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AR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Análisis comparativo entre los montos licitados y adjudicados en los procesos de compra, con foco en la identificación de desviaciones presupuestarias, patrones y entidades contratantes.</a:t>
            </a:r>
            <a:r>
              <a:rPr lang="es-AR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5FEBCB2-A383-2346-0FB7-6D0208EF148D}"/>
              </a:ext>
            </a:extLst>
          </p:cNvPr>
          <p:cNvGrpSpPr/>
          <p:nvPr/>
        </p:nvGrpSpPr>
        <p:grpSpPr>
          <a:xfrm>
            <a:off x="365760" y="3429000"/>
            <a:ext cx="1980000" cy="1080000"/>
            <a:chOff x="625640" y="2380703"/>
            <a:chExt cx="2470486" cy="1517530"/>
          </a:xfrm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29531CD2-C51B-CB6E-D662-500CD3A765B3}"/>
                </a:ext>
              </a:extLst>
            </p:cNvPr>
            <p:cNvSpPr/>
            <p:nvPr/>
          </p:nvSpPr>
          <p:spPr>
            <a:xfrm>
              <a:off x="625640" y="2380703"/>
              <a:ext cx="2470486" cy="1517530"/>
            </a:xfrm>
            <a:prstGeom prst="roundRect">
              <a:avLst/>
            </a:prstGeom>
            <a:solidFill>
              <a:srgbClr val="E5E8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BAA47CC0-52D2-3D06-AE01-A6A0C55CCFD1}"/>
                </a:ext>
              </a:extLst>
            </p:cNvPr>
            <p:cNvSpPr/>
            <p:nvPr/>
          </p:nvSpPr>
          <p:spPr>
            <a:xfrm>
              <a:off x="693820" y="3089048"/>
              <a:ext cx="2334127" cy="616526"/>
            </a:xfrm>
            <a:prstGeom prst="roundRect">
              <a:avLst/>
            </a:prstGeom>
            <a:solidFill>
              <a:srgbClr val="3D368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9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Panorama de desviaciones presupuestarias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79755286-CA7D-7E8A-59FD-65AEB823AC1B}"/>
                </a:ext>
              </a:extLst>
            </p:cNvPr>
            <p:cNvSpPr txBox="1"/>
            <p:nvPr/>
          </p:nvSpPr>
          <p:spPr>
            <a:xfrm>
              <a:off x="693819" y="2383910"/>
              <a:ext cx="2334126" cy="7135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AR" sz="9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Página 1</a:t>
              </a:r>
              <a:r>
                <a:rPr lang="es-AR" sz="900" dirty="0">
                  <a:latin typeface="Segoe UI" panose="020B0502040204020203" pitchFamily="34" charset="0"/>
                  <a:cs typeface="Segoe UI" panose="020B0502040204020203" pitchFamily="34" charset="0"/>
                </a:rPr>
                <a:t>: contexto sobre el comportamiento de las contrataciones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56FAB4A7-E8A2-4F44-01B5-B8668F4BD748}"/>
              </a:ext>
            </a:extLst>
          </p:cNvPr>
          <p:cNvGrpSpPr/>
          <p:nvPr/>
        </p:nvGrpSpPr>
        <p:grpSpPr>
          <a:xfrm>
            <a:off x="2482596" y="3429000"/>
            <a:ext cx="1980000" cy="1080000"/>
            <a:chOff x="3336757" y="2380703"/>
            <a:chExt cx="2470486" cy="1517530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155617E1-1B19-07E1-6616-6A6D60A71C99}"/>
                </a:ext>
              </a:extLst>
            </p:cNvPr>
            <p:cNvSpPr/>
            <p:nvPr/>
          </p:nvSpPr>
          <p:spPr>
            <a:xfrm>
              <a:off x="3336757" y="2380703"/>
              <a:ext cx="2470486" cy="1517530"/>
            </a:xfrm>
            <a:prstGeom prst="roundRect">
              <a:avLst/>
            </a:prstGeom>
            <a:solidFill>
              <a:srgbClr val="E3E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C2ED5DC-8C22-EBF0-BB84-9C876CF1488E}"/>
                </a:ext>
              </a:extLst>
            </p:cNvPr>
            <p:cNvSpPr/>
            <p:nvPr/>
          </p:nvSpPr>
          <p:spPr>
            <a:xfrm>
              <a:off x="3404936" y="3089048"/>
              <a:ext cx="2334127" cy="616526"/>
            </a:xfrm>
            <a:prstGeom prst="roundRect">
              <a:avLst/>
            </a:prstGeom>
            <a:solidFill>
              <a:srgbClr val="3D368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9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Análisis de desviaciones presupuestarias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B0DD516-5AE0-7C57-944F-097FBA6DB835}"/>
                </a:ext>
              </a:extLst>
            </p:cNvPr>
            <p:cNvSpPr txBox="1"/>
            <p:nvPr/>
          </p:nvSpPr>
          <p:spPr>
            <a:xfrm>
              <a:off x="3404936" y="2476728"/>
              <a:ext cx="2334126" cy="5189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AR" sz="9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Página 2</a:t>
              </a:r>
              <a:r>
                <a:rPr lang="es-AR" sz="900" dirty="0">
                  <a:latin typeface="Segoe UI" panose="020B0502040204020203" pitchFamily="34" charset="0"/>
                  <a:cs typeface="Segoe UI" panose="020B0502040204020203" pitchFamily="34" charset="0"/>
                </a:rPr>
                <a:t>: análisis detallado sobre las desviaciones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1D270AA-5910-5D7C-3C8B-C63EC0A23F03}"/>
              </a:ext>
            </a:extLst>
          </p:cNvPr>
          <p:cNvGrpSpPr/>
          <p:nvPr/>
        </p:nvGrpSpPr>
        <p:grpSpPr>
          <a:xfrm>
            <a:off x="4599432" y="3429000"/>
            <a:ext cx="1980000" cy="1080000"/>
            <a:chOff x="6047869" y="2380703"/>
            <a:chExt cx="2470486" cy="1517530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734A8ACF-E7FB-C2E0-2D24-ED17C06CB005}"/>
                </a:ext>
              </a:extLst>
            </p:cNvPr>
            <p:cNvSpPr/>
            <p:nvPr/>
          </p:nvSpPr>
          <p:spPr>
            <a:xfrm>
              <a:off x="6047869" y="2380703"/>
              <a:ext cx="2470486" cy="1517530"/>
            </a:xfrm>
            <a:prstGeom prst="roundRect">
              <a:avLst/>
            </a:prstGeom>
            <a:solidFill>
              <a:srgbClr val="E3E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9C193CBA-3A78-FA6F-8AE4-24694CB85F16}"/>
                </a:ext>
              </a:extLst>
            </p:cNvPr>
            <p:cNvSpPr/>
            <p:nvPr/>
          </p:nvSpPr>
          <p:spPr>
            <a:xfrm>
              <a:off x="6116053" y="3100931"/>
              <a:ext cx="2334127" cy="616526"/>
            </a:xfrm>
            <a:prstGeom prst="roundRect">
              <a:avLst/>
            </a:prstGeom>
            <a:solidFill>
              <a:srgbClr val="3D368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9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Desviaciones por entidad contratante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1D279E2-9943-15BB-A67C-9AC9BE6B120F}"/>
                </a:ext>
              </a:extLst>
            </p:cNvPr>
            <p:cNvSpPr txBox="1"/>
            <p:nvPr/>
          </p:nvSpPr>
          <p:spPr>
            <a:xfrm>
              <a:off x="6116053" y="2483650"/>
              <a:ext cx="2334126" cy="5189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AR" sz="900" b="1">
                  <a:latin typeface="Segoe UI" panose="020B0502040204020203" pitchFamily="34" charset="0"/>
                  <a:cs typeface="Segoe UI" panose="020B0502040204020203" pitchFamily="34" charset="0"/>
                </a:rPr>
                <a:t>Página 3</a:t>
              </a:r>
              <a:r>
                <a:rPr lang="es-AR" sz="900">
                  <a:latin typeface="Segoe UI" panose="020B0502040204020203" pitchFamily="34" charset="0"/>
                  <a:cs typeface="Segoe UI" panose="020B0502040204020203" pitchFamily="34" charset="0"/>
                </a:rPr>
                <a:t>: énfasis en el análisis de las entidades contratantes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630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6C3404-99B7-9090-FE4B-9F727F76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8F054F1-ECEB-FEDC-56F9-8E8EFF97E431}"/>
              </a:ext>
            </a:extLst>
          </p:cNvPr>
          <p:cNvSpPr/>
          <p:nvPr/>
        </p:nvSpPr>
        <p:spPr>
          <a:xfrm>
            <a:off x="0" y="26600"/>
            <a:ext cx="9143999" cy="616526"/>
          </a:xfrm>
          <a:prstGeom prst="roundRect">
            <a:avLst>
              <a:gd name="adj" fmla="val 1322"/>
            </a:avLst>
          </a:prstGeom>
          <a:noFill/>
          <a:ln>
            <a:noFill/>
          </a:ln>
          <a:effectLst>
            <a:innerShdw blurRad="63500" dist="25400" dir="5400000">
              <a:prstClr val="black">
                <a:alpha val="22000"/>
              </a:prstClr>
            </a:inn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Panorama de desviaciones presupuestarias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31A37C7-C7FA-72E7-2032-4CC55E5FE1B9}"/>
              </a:ext>
            </a:extLst>
          </p:cNvPr>
          <p:cNvSpPr/>
          <p:nvPr/>
        </p:nvSpPr>
        <p:spPr>
          <a:xfrm>
            <a:off x="5078071" y="2051711"/>
            <a:ext cx="3900555" cy="13417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Desviación presupuestaria por método de adquisición</a:t>
            </a:r>
            <a:endParaRPr lang="es-AR" sz="9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A7ED9F77-529D-5421-E93F-CA6F6A5F9C3D}"/>
              </a:ext>
            </a:extLst>
          </p:cNvPr>
          <p:cNvSpPr/>
          <p:nvPr/>
        </p:nvSpPr>
        <p:spPr>
          <a:xfrm>
            <a:off x="165363" y="575346"/>
            <a:ext cx="4747336" cy="21953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Evolución anual de licitaciones y montos</a:t>
            </a:r>
            <a:endParaRPr lang="es-AR" sz="900" dirty="0">
              <a:solidFill>
                <a:schemeClr val="tx1">
                  <a:lumMod val="85000"/>
                  <a:lumOff val="1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170E0200-C1C7-40E6-FAFD-BCB804A774B5}"/>
              </a:ext>
            </a:extLst>
          </p:cNvPr>
          <p:cNvSpPr/>
          <p:nvPr/>
        </p:nvSpPr>
        <p:spPr>
          <a:xfrm>
            <a:off x="165362" y="2832577"/>
            <a:ext cx="4747337" cy="202717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Entidades con mayores desviaciones presupuestarias</a:t>
            </a:r>
            <a:endParaRPr lang="es-AR" sz="9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61B195F-BF70-B165-2D3B-6A17AD216D57}"/>
              </a:ext>
            </a:extLst>
          </p:cNvPr>
          <p:cNvSpPr/>
          <p:nvPr/>
        </p:nvSpPr>
        <p:spPr>
          <a:xfrm>
            <a:off x="5078072" y="3458220"/>
            <a:ext cx="3900554" cy="1397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Comparación entre presupuesto y gasto por categoría</a:t>
            </a:r>
            <a:endParaRPr lang="es-AR" sz="9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71E276ED-47F3-0D30-BA43-58E116E02426}"/>
              </a:ext>
            </a:extLst>
          </p:cNvPr>
          <p:cNvSpPr/>
          <p:nvPr/>
        </p:nvSpPr>
        <p:spPr>
          <a:xfrm>
            <a:off x="8726627" y="4920767"/>
            <a:ext cx="252000" cy="144000"/>
          </a:xfrm>
          <a:prstGeom prst="rightArrow">
            <a:avLst/>
          </a:prstGeom>
          <a:solidFill>
            <a:srgbClr val="7179A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52D27F9-7B77-BEC6-F034-EE2602D8F0EE}"/>
              </a:ext>
            </a:extLst>
          </p:cNvPr>
          <p:cNvSpPr/>
          <p:nvPr/>
        </p:nvSpPr>
        <p:spPr>
          <a:xfrm>
            <a:off x="5078071" y="575345"/>
            <a:ext cx="3900555" cy="141158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Resumen general de las licitaciones</a:t>
            </a:r>
            <a:endParaRPr lang="es-AR" sz="9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2F5B6FC0-9D1F-EF87-942B-4C448BEBFC9B}"/>
              </a:ext>
            </a:extLst>
          </p:cNvPr>
          <p:cNvSpPr/>
          <p:nvPr/>
        </p:nvSpPr>
        <p:spPr>
          <a:xfrm>
            <a:off x="165363" y="4920767"/>
            <a:ext cx="252000" cy="144000"/>
          </a:xfrm>
          <a:prstGeom prst="leftArrow">
            <a:avLst/>
          </a:prstGeom>
          <a:solidFill>
            <a:srgbClr val="7179A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74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13189-1895-74FD-5FC3-195EF83A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76DCFA0-652C-EE3A-90D6-E3708EC6FEF3}"/>
              </a:ext>
            </a:extLst>
          </p:cNvPr>
          <p:cNvSpPr/>
          <p:nvPr/>
        </p:nvSpPr>
        <p:spPr>
          <a:xfrm>
            <a:off x="0" y="26600"/>
            <a:ext cx="9143999" cy="616526"/>
          </a:xfrm>
          <a:prstGeom prst="roundRect">
            <a:avLst>
              <a:gd name="adj" fmla="val 1322"/>
            </a:avLst>
          </a:prstGeom>
          <a:noFill/>
          <a:ln>
            <a:noFill/>
          </a:ln>
          <a:effectLst>
            <a:innerShdw blurRad="63500" dist="25400" dir="5400000">
              <a:prstClr val="black">
                <a:alpha val="22000"/>
              </a:prstClr>
            </a:inn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Análisis de desviaciones presupuestarias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5B09572-C56B-39C0-6CEA-3FD0AEB0E2FB}"/>
              </a:ext>
            </a:extLst>
          </p:cNvPr>
          <p:cNvSpPr/>
          <p:nvPr/>
        </p:nvSpPr>
        <p:spPr>
          <a:xfrm>
            <a:off x="4737375" y="580250"/>
            <a:ext cx="2033191" cy="3792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AR" sz="7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Método de adquisición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E4F0EE7-06C5-2FD0-EBD2-429987A721B6}"/>
              </a:ext>
            </a:extLst>
          </p:cNvPr>
          <p:cNvSpPr/>
          <p:nvPr/>
        </p:nvSpPr>
        <p:spPr>
          <a:xfrm>
            <a:off x="6945435" y="582634"/>
            <a:ext cx="2033192" cy="3792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AR" sz="7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Categoría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EAC192E3-A006-C68F-82C9-BF70F33BC70D}"/>
              </a:ext>
            </a:extLst>
          </p:cNvPr>
          <p:cNvSpPr/>
          <p:nvPr/>
        </p:nvSpPr>
        <p:spPr>
          <a:xfrm>
            <a:off x="6945435" y="1012623"/>
            <a:ext cx="2033192" cy="17720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8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Monto total por tipo de desviación</a:t>
            </a:r>
            <a:endParaRPr lang="es-AR" sz="8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4E4BE39E-45E5-C985-18B8-C2B429D264B7}"/>
              </a:ext>
            </a:extLst>
          </p:cNvPr>
          <p:cNvSpPr/>
          <p:nvPr/>
        </p:nvSpPr>
        <p:spPr>
          <a:xfrm>
            <a:off x="165372" y="581493"/>
            <a:ext cx="4406631" cy="22063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Evolución de las desviaciones presupuestarias por año</a:t>
            </a:r>
            <a:endParaRPr lang="es-AR" sz="900" dirty="0">
              <a:solidFill>
                <a:schemeClr val="tx1">
                  <a:lumMod val="85000"/>
                  <a:lumOff val="1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C4943ED1-92AF-60BC-3CDD-B57E7B645DB4}"/>
              </a:ext>
            </a:extLst>
          </p:cNvPr>
          <p:cNvSpPr/>
          <p:nvPr/>
        </p:nvSpPr>
        <p:spPr>
          <a:xfrm>
            <a:off x="165363" y="2874897"/>
            <a:ext cx="4916994" cy="198485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AR" sz="9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Desviaciones presupuestarias por subcategoría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B4F1F37E-82F7-FED7-B2D7-082F98577299}"/>
              </a:ext>
            </a:extLst>
          </p:cNvPr>
          <p:cNvSpPr/>
          <p:nvPr/>
        </p:nvSpPr>
        <p:spPr>
          <a:xfrm>
            <a:off x="5283173" y="2874897"/>
            <a:ext cx="3695454" cy="198485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Distribución de procesos por rango de desviación porcentual</a:t>
            </a:r>
            <a:endParaRPr lang="es-AR" sz="9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9AB763AF-6868-75C2-0741-A636A3F63989}"/>
              </a:ext>
            </a:extLst>
          </p:cNvPr>
          <p:cNvSpPr/>
          <p:nvPr/>
        </p:nvSpPr>
        <p:spPr>
          <a:xfrm>
            <a:off x="4737375" y="1012623"/>
            <a:ext cx="2033192" cy="17720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8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Distribución de procesos según tipo de desviación</a:t>
            </a:r>
            <a:endParaRPr lang="es-AR" sz="8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Flecha: hacia la izquierda 10">
            <a:extLst>
              <a:ext uri="{FF2B5EF4-FFF2-40B4-BE49-F238E27FC236}">
                <a16:creationId xmlns:a16="http://schemas.microsoft.com/office/drawing/2014/main" id="{EAFB7122-4A88-C03D-1567-3C611F8D1432}"/>
              </a:ext>
            </a:extLst>
          </p:cNvPr>
          <p:cNvSpPr/>
          <p:nvPr/>
        </p:nvSpPr>
        <p:spPr>
          <a:xfrm>
            <a:off x="165363" y="4920767"/>
            <a:ext cx="252000" cy="144000"/>
          </a:xfrm>
          <a:prstGeom prst="leftArrow">
            <a:avLst/>
          </a:prstGeom>
          <a:solidFill>
            <a:srgbClr val="7179A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2B6A9DB0-8C21-CAF9-3001-B85DFA358130}"/>
              </a:ext>
            </a:extLst>
          </p:cNvPr>
          <p:cNvSpPr/>
          <p:nvPr/>
        </p:nvSpPr>
        <p:spPr>
          <a:xfrm>
            <a:off x="8726627" y="4920767"/>
            <a:ext cx="252000" cy="144000"/>
          </a:xfrm>
          <a:prstGeom prst="rightArrow">
            <a:avLst/>
          </a:prstGeom>
          <a:solidFill>
            <a:srgbClr val="7179A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769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70F5B-AEF2-D856-5FC7-EE6F420C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80B633C-CAEF-2858-108D-5AAD188710A2}"/>
              </a:ext>
            </a:extLst>
          </p:cNvPr>
          <p:cNvSpPr/>
          <p:nvPr/>
        </p:nvSpPr>
        <p:spPr>
          <a:xfrm>
            <a:off x="0" y="26600"/>
            <a:ext cx="9143999" cy="616526"/>
          </a:xfrm>
          <a:prstGeom prst="roundRect">
            <a:avLst>
              <a:gd name="adj" fmla="val 1322"/>
            </a:avLst>
          </a:prstGeom>
          <a:noFill/>
          <a:ln>
            <a:noFill/>
          </a:ln>
          <a:effectLst>
            <a:innerShdw blurRad="63500" dist="25400" dir="5400000">
              <a:prstClr val="black">
                <a:alpha val="22000"/>
              </a:prstClr>
            </a:inn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Desviaciones por entidad contratante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8DEABA6-3F69-E49F-44DD-6F2CE31811AE}"/>
              </a:ext>
            </a:extLst>
          </p:cNvPr>
          <p:cNvSpPr/>
          <p:nvPr/>
        </p:nvSpPr>
        <p:spPr>
          <a:xfrm>
            <a:off x="4737375" y="580248"/>
            <a:ext cx="4241252" cy="6655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Concentración de las desviaciones negativas</a:t>
            </a:r>
            <a:endParaRPr lang="es-AR" sz="9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44BA04E-E92A-27B9-C562-BF25F000FB17}"/>
              </a:ext>
            </a:extLst>
          </p:cNvPr>
          <p:cNvSpPr/>
          <p:nvPr/>
        </p:nvSpPr>
        <p:spPr>
          <a:xfrm>
            <a:off x="4737371" y="1333786"/>
            <a:ext cx="4241027" cy="185770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Distribución de procesos según tipo de desviación — Top 10 entidades</a:t>
            </a:r>
            <a:endParaRPr lang="es-AR" sz="9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1637316-02E9-82F2-E3E6-EE3FD2B4EB22}"/>
              </a:ext>
            </a:extLst>
          </p:cNvPr>
          <p:cNvSpPr/>
          <p:nvPr/>
        </p:nvSpPr>
        <p:spPr>
          <a:xfrm>
            <a:off x="165371" y="581493"/>
            <a:ext cx="4406629" cy="261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Top 10 entidades por monto de desviación negativa</a:t>
            </a:r>
            <a:endParaRPr lang="es-AR" sz="900" dirty="0">
              <a:solidFill>
                <a:schemeClr val="tx1">
                  <a:lumMod val="85000"/>
                  <a:lumOff val="1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1B7F04A-BA1A-E9BD-EB61-40951D706ED6}"/>
              </a:ext>
            </a:extLst>
          </p:cNvPr>
          <p:cNvSpPr/>
          <p:nvPr/>
        </p:nvSpPr>
        <p:spPr>
          <a:xfrm>
            <a:off x="165368" y="3279465"/>
            <a:ext cx="8813264" cy="15893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9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Detalle de los procesos — Top 10 entidades</a:t>
            </a:r>
            <a:endParaRPr lang="es-AR" sz="9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Flecha: hacia la izquierda 10">
            <a:extLst>
              <a:ext uri="{FF2B5EF4-FFF2-40B4-BE49-F238E27FC236}">
                <a16:creationId xmlns:a16="http://schemas.microsoft.com/office/drawing/2014/main" id="{5E6412C4-C66D-9711-ED8B-EA52281C1A62}"/>
              </a:ext>
            </a:extLst>
          </p:cNvPr>
          <p:cNvSpPr/>
          <p:nvPr/>
        </p:nvSpPr>
        <p:spPr>
          <a:xfrm>
            <a:off x="165363" y="4920767"/>
            <a:ext cx="252000" cy="144000"/>
          </a:xfrm>
          <a:prstGeom prst="leftArrow">
            <a:avLst/>
          </a:prstGeom>
          <a:solidFill>
            <a:srgbClr val="7179A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1276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203</Words>
  <Application>Microsoft Office PowerPoint</Application>
  <PresentationFormat>Presentación en pantalla (16:9)</PresentationFormat>
  <Paragraphs>29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Oscar Zeller</dc:creator>
  <cp:lastModifiedBy>Sebastian Oscar Zeller</cp:lastModifiedBy>
  <cp:revision>5</cp:revision>
  <dcterms:created xsi:type="dcterms:W3CDTF">2026-08-26T23:13:02Z</dcterms:created>
  <dcterms:modified xsi:type="dcterms:W3CDTF">2026-08-28T16:21:01Z</dcterms:modified>
</cp:coreProperties>
</file>